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9" r:id="rId6"/>
    <p:sldId id="260" r:id="rId7"/>
    <p:sldId id="268" r:id="rId8"/>
    <p:sldId id="270" r:id="rId9"/>
    <p:sldId id="272" r:id="rId10"/>
    <p:sldId id="271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1" autoAdjust="0"/>
  </p:normalViewPr>
  <p:slideViewPr>
    <p:cSldViewPr snapToGrid="0">
      <p:cViewPr varScale="1">
        <p:scale>
          <a:sx n="43" d="100"/>
          <a:sy n="43" d="100"/>
        </p:scale>
        <p:origin x="756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338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69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70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  <a:extLst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760" y="2380673"/>
            <a:ext cx="11441421" cy="3329581"/>
          </a:xfrm>
        </p:spPr>
        <p:txBody>
          <a:bodyPr>
            <a:noAutofit/>
          </a:bodyPr>
          <a:lstStyle/>
          <a:p>
            <a:r>
              <a:rPr lang="en-GB" sz="4800" b="1" dirty="0"/>
              <a:t>OPTIMIZED INVENTORY MANAGEMENT USING A HYBRID MACHINE LEARNING MIXED-INTEGER LINEAR PROGRAMMING APPROACH</a:t>
            </a:r>
            <a:endParaRPr lang="ru-RU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" y="5980288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 smtClean="0"/>
              <a:t>HAILLEY WANJIRU NJUNJI</a:t>
            </a:r>
          </a:p>
          <a:p>
            <a:r>
              <a:rPr lang="en-US" dirty="0" smtClean="0"/>
              <a:t>SCT221-0225/2022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174D3-6B10-409E-9110-EEBEAA7E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61" y="191069"/>
            <a:ext cx="9962368" cy="87111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INTRODUCTION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527E565-DE8D-445C-9879-AD1D04415A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492" y="1062182"/>
            <a:ext cx="10262320" cy="518621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 many Small to Medium Enterprises </a:t>
            </a:r>
            <a:r>
              <a:rPr lang="en-GB" dirty="0"/>
              <a:t>inventory management is characterized by reactive, manual heuristics and ad hoc decision making particularly regarding Bulk to Break unit conversions</a:t>
            </a:r>
            <a:r>
              <a:rPr lang="en-GB" dirty="0" smtClean="0"/>
              <a:t>.</a:t>
            </a:r>
            <a:endParaRPr lang="en-GB" dirty="0"/>
          </a:p>
          <a:p>
            <a:pPr marL="0" indent="0">
              <a:buNone/>
            </a:pPr>
            <a:r>
              <a:rPr lang="en-US" b="1" dirty="0" smtClean="0"/>
              <a:t>THE CHALLENGE:</a:t>
            </a:r>
          </a:p>
          <a:p>
            <a:r>
              <a:rPr lang="en-US" dirty="0" smtClean="0"/>
              <a:t>This often culminates to an end of month operational crisis where a lot of labor and long hours are needed to reconcile the stock information</a:t>
            </a:r>
            <a:r>
              <a:rPr lang="en-US" b="1" dirty="0" smtClean="0"/>
              <a:t>.</a:t>
            </a:r>
          </a:p>
          <a:p>
            <a:r>
              <a:rPr lang="en-US" dirty="0" smtClean="0"/>
              <a:t>The bulk to break unit of conversion </a:t>
            </a:r>
            <a:r>
              <a:rPr lang="en-GB" dirty="0"/>
              <a:t>often leads to inaccuracies in stock records and increased time spent on periodic inventory </a:t>
            </a:r>
            <a:r>
              <a:rPr lang="en-GB" dirty="0" smtClean="0"/>
              <a:t>reconciliation.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PROPOSED SOLUTION:</a:t>
            </a:r>
          </a:p>
          <a:p>
            <a:pPr marL="0" indent="0">
              <a:buNone/>
            </a:pPr>
            <a:r>
              <a:rPr lang="en-US" dirty="0" smtClean="0"/>
              <a:t>A hybrid Machine Learning Mixed-</a:t>
            </a:r>
            <a:r>
              <a:rPr lang="en-US" dirty="0" err="1" smtClean="0"/>
              <a:t>Interger</a:t>
            </a:r>
            <a:r>
              <a:rPr lang="en-US" dirty="0" smtClean="0"/>
              <a:t> Linear Programming framework that makes use of Machine Learning to forecast the demand and sales patterns which will act as inputs for the Mixed-Integer Linear Programming optimization engine that will enable us to determine re-order </a:t>
            </a:r>
            <a:r>
              <a:rPr lang="en-GB" dirty="0"/>
              <a:t>quantities and timing while </a:t>
            </a:r>
            <a:r>
              <a:rPr lang="en-GB" dirty="0" smtClean="0"/>
              <a:t>under the given constraints.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388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DC570-72AC-45BE-BB60-458EBBAC8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206"/>
            <a:ext cx="9404723" cy="782184"/>
          </a:xfrm>
        </p:spPr>
        <p:txBody>
          <a:bodyPr/>
          <a:lstStyle/>
          <a:p>
            <a:r>
              <a:rPr lang="en-US" sz="3200" dirty="0" smtClean="0">
                <a:solidFill>
                  <a:srgbClr val="00B0F0"/>
                </a:solidFill>
              </a:rPr>
              <a:t>PROBLEM STATEMENT</a:t>
            </a:r>
            <a:endParaRPr lang="ru-RU" sz="3200" dirty="0">
              <a:solidFill>
                <a:srgbClr val="00B0F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952437"/>
            <a:ext cx="10658006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Many packaging material suppliers still rely on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altLang="en-US" dirty="0">
                <a:latin typeface="+mn-lt"/>
              </a:rPr>
              <a:t>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anual stock checks, fixed-interval ordering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and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Subjective, experience-based judgment.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These heuristic methods:</a:t>
            </a:r>
          </a:p>
          <a:p>
            <a:pPr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Fail to capture non-linear demand fluctuations</a:t>
            </a:r>
          </a:p>
          <a:p>
            <a:pPr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Ignore lead time variability</a:t>
            </a:r>
          </a:p>
          <a:p>
            <a:pPr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Do not handle roll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based and fragmented unit measurements effectivel</a:t>
            </a:r>
            <a:r>
              <a:rPr lang="en-US" altLang="en-US" sz="2000" dirty="0" smtClean="0">
                <a:latin typeface="+mn-lt"/>
              </a:rPr>
              <a:t>y </a:t>
            </a:r>
            <a:endParaRPr lang="en-US" altLang="en-US" sz="2000" dirty="0">
              <a:latin typeface="+mn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b="1" dirty="0" smtClean="0">
                <a:latin typeface="+mn-lt"/>
              </a:rPr>
              <a:t>Unit </a:t>
            </a:r>
            <a:r>
              <a:rPr lang="en-US" altLang="en-US" b="1" dirty="0">
                <a:latin typeface="+mn-lt"/>
              </a:rPr>
              <a:t>of Measure (</a:t>
            </a:r>
            <a:r>
              <a:rPr lang="en-US" altLang="en-US" b="1" dirty="0" err="1">
                <a:latin typeface="+mn-lt"/>
              </a:rPr>
              <a:t>UoM</a:t>
            </a:r>
            <a:r>
              <a:rPr lang="en-US" altLang="en-US" b="1" dirty="0">
                <a:latin typeface="+mn-lt"/>
              </a:rPr>
              <a:t>) Mismatch </a:t>
            </a:r>
            <a:r>
              <a:rPr lang="en-US" altLang="en-US" b="1" dirty="0" smtClean="0">
                <a:latin typeface="+mn-lt"/>
              </a:rPr>
              <a:t>Challenge: </a:t>
            </a:r>
            <a:r>
              <a:rPr lang="en-US" altLang="en-US" dirty="0" smtClean="0">
                <a:latin typeface="+mn-lt"/>
              </a:rPr>
              <a:t>Raw </a:t>
            </a:r>
            <a:r>
              <a:rPr lang="en-US" altLang="en-US" dirty="0">
                <a:latin typeface="+mn-lt"/>
              </a:rPr>
              <a:t>materials are procured in bulk units </a:t>
            </a:r>
            <a:r>
              <a:rPr lang="en-US" altLang="en-US" dirty="0" smtClean="0">
                <a:latin typeface="+mn-lt"/>
              </a:rPr>
              <a:t>(e.g., rolls)while sales </a:t>
            </a:r>
            <a:r>
              <a:rPr lang="en-US" altLang="en-US" dirty="0">
                <a:latin typeface="+mn-lt"/>
              </a:rPr>
              <a:t>and consumption occur in break units (e.g., meters, pieces)This </a:t>
            </a:r>
            <a:r>
              <a:rPr lang="en-US" altLang="en-US" dirty="0" smtClean="0">
                <a:latin typeface="+mn-lt"/>
              </a:rPr>
              <a:t>mismatch </a:t>
            </a:r>
            <a:r>
              <a:rPr lang="en-US" altLang="en-US" dirty="0">
                <a:latin typeface="+mn-lt"/>
              </a:rPr>
              <a:t>leads to</a:t>
            </a:r>
            <a:r>
              <a:rPr lang="en-US" altLang="en-US" dirty="0" smtClean="0">
                <a:latin typeface="+mn-lt"/>
              </a:rPr>
              <a:t>: Inconsistent </a:t>
            </a:r>
            <a:r>
              <a:rPr lang="en-US" altLang="en-US" dirty="0">
                <a:latin typeface="+mn-lt"/>
              </a:rPr>
              <a:t>stock </a:t>
            </a:r>
            <a:r>
              <a:rPr lang="en-US" altLang="en-US" dirty="0" smtClean="0">
                <a:latin typeface="+mn-lt"/>
              </a:rPr>
              <a:t>records, discrepancies </a:t>
            </a:r>
            <a:r>
              <a:rPr lang="en-US" altLang="en-US" dirty="0">
                <a:latin typeface="+mn-lt"/>
              </a:rPr>
              <a:t>between physical and system inventory </a:t>
            </a:r>
            <a:r>
              <a:rPr lang="en-US" altLang="en-US" dirty="0" smtClean="0">
                <a:latin typeface="+mn-lt"/>
              </a:rPr>
              <a:t>levels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b="1" dirty="0" smtClean="0">
                <a:latin typeface="+mn-lt"/>
              </a:rPr>
              <a:t>Operational </a:t>
            </a:r>
            <a:r>
              <a:rPr lang="en-US" altLang="en-US" b="1" dirty="0">
                <a:latin typeface="+mn-lt"/>
              </a:rPr>
              <a:t>Consequences of Manual </a:t>
            </a:r>
            <a:r>
              <a:rPr lang="en-US" altLang="en-US" b="1" dirty="0" smtClean="0">
                <a:latin typeface="+mn-lt"/>
              </a:rPr>
              <a:t>Practices: </a:t>
            </a:r>
            <a:r>
              <a:rPr lang="en-US" altLang="en-US" dirty="0" smtClean="0">
                <a:latin typeface="+mn-lt"/>
              </a:rPr>
              <a:t>Frequent end of month </a:t>
            </a:r>
            <a:r>
              <a:rPr lang="en-US" altLang="en-US" dirty="0">
                <a:latin typeface="+mn-lt"/>
              </a:rPr>
              <a:t>inventory </a:t>
            </a:r>
            <a:r>
              <a:rPr lang="en-US" altLang="en-US" dirty="0" smtClean="0">
                <a:latin typeface="+mn-lt"/>
              </a:rPr>
              <a:t>reconciliation, time consuming </a:t>
            </a:r>
            <a:r>
              <a:rPr lang="en-US" altLang="en-US" dirty="0">
                <a:latin typeface="+mn-lt"/>
              </a:rPr>
              <a:t>manual stock </a:t>
            </a:r>
            <a:r>
              <a:rPr lang="en-US" altLang="en-US" dirty="0" smtClean="0">
                <a:latin typeface="+mn-lt"/>
              </a:rPr>
              <a:t>verification, record </a:t>
            </a:r>
            <a:r>
              <a:rPr lang="en-US" altLang="en-US" dirty="0">
                <a:latin typeface="+mn-lt"/>
              </a:rPr>
              <a:t>corrections and purchase </a:t>
            </a:r>
            <a:r>
              <a:rPr lang="en-US" altLang="en-US" dirty="0" smtClean="0">
                <a:latin typeface="+mn-lt"/>
              </a:rPr>
              <a:t>adjustments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b="1" dirty="0" smtClean="0">
                <a:latin typeface="+mn-lt"/>
              </a:rPr>
              <a:t>Negative </a:t>
            </a:r>
            <a:r>
              <a:rPr lang="en-US" altLang="en-US" b="1" dirty="0">
                <a:latin typeface="+mn-lt"/>
              </a:rPr>
              <a:t>impacts include</a:t>
            </a:r>
            <a:r>
              <a:rPr lang="en-US" altLang="en-US" dirty="0" smtClean="0">
                <a:latin typeface="+mn-lt"/>
              </a:rPr>
              <a:t>: Increased</a:t>
            </a:r>
            <a:r>
              <a:rPr lang="en-US" altLang="en-US" b="1" dirty="0" smtClean="0">
                <a:latin typeface="+mn-lt"/>
              </a:rPr>
              <a:t> </a:t>
            </a:r>
            <a:r>
              <a:rPr lang="en-US" altLang="en-US" dirty="0">
                <a:latin typeface="+mn-lt"/>
              </a:rPr>
              <a:t>labor </a:t>
            </a:r>
            <a:r>
              <a:rPr lang="en-US" altLang="en-US" dirty="0" smtClean="0">
                <a:latin typeface="+mn-lt"/>
              </a:rPr>
              <a:t>costs, higher </a:t>
            </a:r>
            <a:r>
              <a:rPr lang="en-US" altLang="en-US" dirty="0">
                <a:latin typeface="+mn-lt"/>
              </a:rPr>
              <a:t>risk of human </a:t>
            </a:r>
            <a:r>
              <a:rPr lang="en-US" altLang="en-US" dirty="0" smtClean="0">
                <a:latin typeface="+mn-lt"/>
              </a:rPr>
              <a:t>error, disruption </a:t>
            </a:r>
            <a:r>
              <a:rPr lang="en-US" altLang="en-US" dirty="0">
                <a:latin typeface="+mn-lt"/>
              </a:rPr>
              <a:t>to normal </a:t>
            </a:r>
            <a:r>
              <a:rPr lang="en-US" altLang="en-US" dirty="0" smtClean="0">
                <a:latin typeface="+mn-lt"/>
              </a:rPr>
              <a:t>operations, increased stock-out </a:t>
            </a:r>
            <a:r>
              <a:rPr lang="en-US" altLang="en-US" dirty="0">
                <a:latin typeface="+mn-lt"/>
              </a:rPr>
              <a:t>risk </a:t>
            </a:r>
            <a:r>
              <a:rPr lang="en-US" altLang="en-US" dirty="0" smtClean="0">
                <a:latin typeface="+mn-lt"/>
              </a:rPr>
              <a:t>( </a:t>
            </a:r>
            <a:r>
              <a:rPr lang="en-US" altLang="en-US" dirty="0">
                <a:latin typeface="+mn-lt"/>
              </a:rPr>
              <a:t>lost sales and reduced service </a:t>
            </a:r>
            <a:r>
              <a:rPr lang="en-US" altLang="en-US" dirty="0" smtClean="0">
                <a:latin typeface="+mn-lt"/>
              </a:rPr>
              <a:t>levels) and increased overstocking risk (unnecessary </a:t>
            </a:r>
            <a:r>
              <a:rPr lang="en-US" altLang="en-US" dirty="0">
                <a:latin typeface="+mn-lt"/>
              </a:rPr>
              <a:t>holding and storage </a:t>
            </a:r>
            <a:r>
              <a:rPr lang="en-US" altLang="en-US" dirty="0" smtClean="0">
                <a:latin typeface="+mn-lt"/>
              </a:rPr>
              <a:t>costs)</a:t>
            </a:r>
          </a:p>
        </p:txBody>
      </p:sp>
    </p:spTree>
    <p:extLst>
      <p:ext uri="{BB962C8B-B14F-4D97-AF65-F5344CB8AC3E}">
        <p14:creationId xmlns:p14="http://schemas.microsoft.com/office/powerpoint/2010/main" val="70285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3" name="Oval 52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48C75AA-C615-44E8-850A-3C0634ABF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06" y="194402"/>
            <a:ext cx="10296106" cy="60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dirty="0" smtClean="0">
                <a:solidFill>
                  <a:srgbClr val="00B0F0"/>
                </a:solidFill>
              </a:rPr>
              <a:t>OBJECTIVES</a:t>
            </a:r>
            <a:endParaRPr lang="en-US" sz="3300" dirty="0">
              <a:solidFill>
                <a:srgbClr val="00B0F0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0" y="794479"/>
            <a:ext cx="11428412" cy="7779895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GB" sz="2000" b="1" u="sng" dirty="0"/>
              <a:t>Specific Objectives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To examine manual inventory replenishment practices used by packaging material suppliers by identifying ordering rules, reconciliation frequency and unit of measure handling.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To develop a Machine Learning predictive model to forecast high-variance demand for fragmented packaging products using historical sales data.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To formulate a Mixed-Integer Linear Programming (MILP) model that utilizes ML-generated forecasts to optimize bulk replenishment quantities and schedules under cost and Unit of Measure constraints.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To benchmark the performance of the integrated ML-MILP framework against manual heuristic policies through simulation to evaluate cost-efficiency and inventory stability</a:t>
            </a:r>
            <a:r>
              <a:rPr lang="en-GB" sz="2000" dirty="0" smtClean="0"/>
              <a:t>.</a:t>
            </a:r>
            <a:endParaRPr lang="en-GB" sz="2000" dirty="0"/>
          </a:p>
          <a:p>
            <a:pPr marL="0" lvl="0" indent="0">
              <a:buNone/>
            </a:pPr>
            <a:endParaRPr lang="en-US" sz="2000" dirty="0" smtClean="0"/>
          </a:p>
          <a:p>
            <a:pPr marL="0" lvl="0" indent="0">
              <a:buNone/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55508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0050834" cy="794479"/>
          </a:xfrm>
        </p:spPr>
        <p:txBody>
          <a:bodyPr/>
          <a:lstStyle/>
          <a:p>
            <a:r>
              <a:rPr lang="en-US" smtClean="0">
                <a:solidFill>
                  <a:srgbClr val="00B0F0"/>
                </a:solidFill>
              </a:rPr>
              <a:t>SCOPE</a:t>
            </a:r>
            <a:endParaRPr lang="en-GB">
              <a:solidFill>
                <a:srgbClr val="00B0F0"/>
              </a:solidFill>
            </a:endParaRPr>
          </a:p>
        </p:txBody>
      </p:sp>
      <p:sp>
        <p:nvSpPr>
          <p:cNvPr id="10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209863" y="1019332"/>
            <a:ext cx="10882859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Functional focus: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Inventory replenishment decision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making for packaging materials. Integration of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Machine Learning (ML)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for demand forecasting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MILP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for order optimization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Analytical focus: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Determination of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optimal order quantities and timing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smtClean="0">
                <a:latin typeface="+mn-lt"/>
              </a:rPr>
              <a:t>with an </a:t>
            </a:r>
            <a:r>
              <a:rPr lang="en-US" altLang="en-US" sz="2000" dirty="0">
                <a:latin typeface="+mn-lt"/>
              </a:rPr>
              <a:t>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mphasis on the interaction between forecasting and optimization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Operational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boundary: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Single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organizational setting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that </a:t>
            </a:r>
            <a:r>
              <a:rPr lang="en-US" altLang="en-US" sz="2000" dirty="0">
                <a:latin typeface="+mn-lt"/>
              </a:rPr>
              <a:t>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not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extend to;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supplier selection,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altLang="en-US" sz="2000" dirty="0">
                <a:latin typeface="+mn-lt"/>
              </a:rPr>
              <a:t>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ransportation planning,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altLang="en-US" sz="2000" dirty="0">
                <a:latin typeface="+mn-lt"/>
              </a:rPr>
              <a:t>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arehouse layout optimization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or </a:t>
            </a:r>
            <a:r>
              <a:rPr lang="en-US" altLang="en-US" sz="2000" dirty="0">
                <a:latin typeface="+mn-lt"/>
              </a:rPr>
              <a:t>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istribution management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Implementation scope: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Model evaluation through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simulation only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smtClean="0">
                <a:latin typeface="+mn-lt"/>
              </a:rPr>
              <a:t>,n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 real-time deployment or enterprise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wide system implementation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 and methodological constraints: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</a:t>
            </a:r>
            <a:r>
              <a:rPr lang="en-US" altLang="en-US" sz="1800" dirty="0" err="1">
                <a:latin typeface="+mn-lt"/>
              </a:rPr>
              <a:t>Forecasting</a:t>
            </a:r>
            <a:r>
              <a:rPr lang="en-US" altLang="en-US" sz="1800" dirty="0">
                <a:latin typeface="+mn-lt"/>
              </a:rPr>
              <a:t> accuracy and model assumptions acknowledged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Limited by data availability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Findings interpreted strictly within defined operational and methodological boundaries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553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20" y="122934"/>
            <a:ext cx="10424124" cy="776476"/>
          </a:xfrm>
        </p:spPr>
        <p:txBody>
          <a:bodyPr/>
          <a:lstStyle/>
          <a:p>
            <a:r>
              <a:rPr lang="en-US" smtClean="0">
                <a:solidFill>
                  <a:srgbClr val="00B0F0"/>
                </a:solidFill>
              </a:rPr>
              <a:t>PROPOSED SOLUTION</a:t>
            </a:r>
            <a:endParaRPr lang="en-GB">
              <a:solidFill>
                <a:srgbClr val="00B0F0"/>
              </a:solidFill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24020" y="1769597"/>
            <a:ext cx="1121860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Framework: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Integrated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ML–MILP prescriptive inventory model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Pipeline: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Forecast → Optimize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Machine Learning: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Predicts high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variance, fragmented demand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Mixed Integer Linear Programming: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Determines reorder quantities and timing, accounting for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altLang="en-US" sz="2000" dirty="0">
                <a:latin typeface="+mn-lt"/>
              </a:rPr>
              <a:t>h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olding costs,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altLang="en-US" sz="2000" dirty="0">
                <a:latin typeface="+mn-lt"/>
              </a:rPr>
              <a:t>f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ixed ordering costs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and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Unit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Measure (bulk ↔ fragmented) conversions.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Evaluation: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Simulation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based </a:t>
            </a:r>
            <a:r>
              <a:rPr lang="en-US" altLang="en-US" sz="2000" dirty="0" smtClean="0">
                <a:latin typeface="+mn-lt"/>
              </a:rPr>
              <a:t>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omparison against manual, fixed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nterval inventory heuristics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Metrics: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Total cost, inventory stability, stock accuracy</a:t>
            </a:r>
          </a:p>
        </p:txBody>
      </p:sp>
    </p:spTree>
    <p:extLst>
      <p:ext uri="{BB962C8B-B14F-4D97-AF65-F5344CB8AC3E}">
        <p14:creationId xmlns:p14="http://schemas.microsoft.com/office/powerpoint/2010/main" val="2718971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944380"/>
          </a:xfrm>
        </p:spPr>
        <p:txBody>
          <a:bodyPr/>
          <a:lstStyle/>
          <a:p>
            <a:r>
              <a:rPr lang="en-US" smtClean="0">
                <a:solidFill>
                  <a:srgbClr val="00B0F0"/>
                </a:solidFill>
              </a:rPr>
              <a:t>LITERATURE REVIEW</a:t>
            </a:r>
            <a:endParaRPr lang="en-GB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980805"/>
            <a:ext cx="11167672" cy="5644847"/>
          </a:xfrm>
        </p:spPr>
        <p:txBody>
          <a:bodyPr>
            <a:normAutofit/>
          </a:bodyPr>
          <a:lstStyle/>
          <a:p>
            <a:r>
              <a:rPr lang="en-GB" sz="2000" b="1" dirty="0" smtClean="0"/>
              <a:t>Limitations of Traditional Policies: </a:t>
            </a:r>
            <a:r>
              <a:rPr lang="en-GB" sz="2000" dirty="0" smtClean="0"/>
              <a:t>Classical </a:t>
            </a:r>
            <a:r>
              <a:rPr lang="en-GB" sz="2000" dirty="0"/>
              <a:t>models (EOQ, periodic review) rely on simplifying assumptions that fail under real operational </a:t>
            </a:r>
            <a:r>
              <a:rPr lang="en-GB" sz="2000" dirty="0" smtClean="0"/>
              <a:t>constraints. Heuristic </a:t>
            </a:r>
            <a:r>
              <a:rPr lang="en-GB" sz="2000" dirty="0"/>
              <a:t>approaches remain common but underperform under stochastic demand</a:t>
            </a:r>
            <a:r>
              <a:rPr lang="en-GB" sz="2000" dirty="0" smtClean="0"/>
              <a:t>.</a:t>
            </a:r>
          </a:p>
          <a:p>
            <a:r>
              <a:rPr lang="en-GB" sz="2000" dirty="0" smtClean="0"/>
              <a:t> </a:t>
            </a:r>
            <a:r>
              <a:rPr lang="en-GB" sz="2000" b="1" dirty="0" smtClean="0"/>
              <a:t>Optimization </a:t>
            </a:r>
            <a:r>
              <a:rPr lang="en-GB" sz="2000" b="1" dirty="0"/>
              <a:t>&amp; Hybrid </a:t>
            </a:r>
            <a:r>
              <a:rPr lang="en-GB" sz="2000" b="1" dirty="0" smtClean="0"/>
              <a:t>Approaches: </a:t>
            </a:r>
            <a:r>
              <a:rPr lang="en-GB" sz="2000" dirty="0" smtClean="0"/>
              <a:t>MILP </a:t>
            </a:r>
            <a:r>
              <a:rPr lang="en-GB" sz="2000" dirty="0"/>
              <a:t>enables optimal inventory decisions by </a:t>
            </a:r>
            <a:r>
              <a:rPr lang="en-GB" sz="2000" dirty="0" smtClean="0"/>
              <a:t>modelling </a:t>
            </a:r>
            <a:r>
              <a:rPr lang="en-GB" sz="2000" dirty="0"/>
              <a:t>discrete ordering, capacity </a:t>
            </a:r>
            <a:r>
              <a:rPr lang="en-GB" sz="2000" dirty="0" smtClean="0"/>
              <a:t>limits </a:t>
            </a:r>
            <a:r>
              <a:rPr lang="en-GB" sz="2000" dirty="0"/>
              <a:t>and fixed </a:t>
            </a:r>
            <a:r>
              <a:rPr lang="en-GB" sz="2000" dirty="0" smtClean="0"/>
              <a:t>costs. </a:t>
            </a:r>
          </a:p>
          <a:p>
            <a:pPr marL="0" indent="0">
              <a:buNone/>
            </a:pPr>
            <a:r>
              <a:rPr lang="en-GB" sz="2000" dirty="0" smtClean="0"/>
              <a:t>	Machine </a:t>
            </a:r>
            <a:r>
              <a:rPr lang="en-GB" sz="2000" dirty="0"/>
              <a:t>Learning improves demand forecasting but lacks </a:t>
            </a:r>
            <a:r>
              <a:rPr lang="en-GB" sz="2000" dirty="0" smtClean="0"/>
              <a:t>decision making 	capability </a:t>
            </a:r>
            <a:r>
              <a:rPr lang="en-GB" sz="2000" dirty="0"/>
              <a:t>on its own</a:t>
            </a:r>
            <a:r>
              <a:rPr lang="en-GB" sz="2000" dirty="0" smtClean="0"/>
              <a:t>.</a:t>
            </a:r>
          </a:p>
          <a:p>
            <a:pPr marL="0" indent="0">
              <a:buNone/>
            </a:pPr>
            <a:r>
              <a:rPr lang="en-GB" sz="2000" dirty="0" smtClean="0"/>
              <a:t>	Hybrid </a:t>
            </a:r>
            <a:r>
              <a:rPr lang="en-GB" sz="2000" dirty="0"/>
              <a:t>ML–MILP frameworks combine forecasting with optimization, outperforming </a:t>
            </a:r>
            <a:r>
              <a:rPr lang="en-GB" sz="2000" dirty="0" smtClean="0"/>
              <a:t>	traditional </a:t>
            </a:r>
            <a:r>
              <a:rPr lang="en-GB" sz="2000" dirty="0"/>
              <a:t>policies under </a:t>
            </a:r>
            <a:r>
              <a:rPr lang="en-GB" sz="2000" dirty="0" smtClean="0"/>
              <a:t>uncertainty. </a:t>
            </a:r>
          </a:p>
          <a:p>
            <a:pPr marL="0" indent="0">
              <a:buNone/>
            </a:pPr>
            <a:r>
              <a:rPr lang="en-GB" sz="2000" b="1" dirty="0" smtClean="0"/>
              <a:t>Research Gap</a:t>
            </a:r>
          </a:p>
          <a:p>
            <a:r>
              <a:rPr lang="en-GB" sz="2000" dirty="0" smtClean="0"/>
              <a:t>Limited </a:t>
            </a:r>
            <a:r>
              <a:rPr lang="en-GB" sz="2000" dirty="0"/>
              <a:t>empirical studies on </a:t>
            </a:r>
            <a:r>
              <a:rPr lang="en-GB" sz="2000" dirty="0" smtClean="0"/>
              <a:t>ML enhanced </a:t>
            </a:r>
            <a:r>
              <a:rPr lang="en-GB" sz="2000" dirty="0"/>
              <a:t>MILP in SME packaging suppliers</a:t>
            </a:r>
            <a:r>
              <a:rPr lang="en-GB" sz="2000" dirty="0" smtClean="0"/>
              <a:t>.</a:t>
            </a:r>
          </a:p>
          <a:p>
            <a:r>
              <a:rPr lang="en-GB" sz="2000" dirty="0" smtClean="0"/>
              <a:t>Sparse </a:t>
            </a:r>
            <a:r>
              <a:rPr lang="en-GB" sz="2000" dirty="0"/>
              <a:t>evidence addressing </a:t>
            </a:r>
            <a:r>
              <a:rPr lang="en-GB" sz="2000" dirty="0" smtClean="0"/>
              <a:t>Unit of Measure </a:t>
            </a:r>
            <a:r>
              <a:rPr lang="en-GB" sz="2000" dirty="0"/>
              <a:t>variability and manual stock reconciliation in hybrid models</a:t>
            </a:r>
            <a:r>
              <a:rPr lang="en-GB" sz="2000" dirty="0" smtClean="0"/>
              <a:t>.</a:t>
            </a:r>
          </a:p>
          <a:p>
            <a:r>
              <a:rPr lang="en-GB" sz="2000" dirty="0" smtClean="0"/>
              <a:t>Need </a:t>
            </a:r>
            <a:r>
              <a:rPr lang="en-GB" sz="2000" dirty="0"/>
              <a:t>for </a:t>
            </a:r>
            <a:r>
              <a:rPr lang="en-GB" sz="2000" dirty="0" smtClean="0"/>
              <a:t>simulation based </a:t>
            </a:r>
            <a:r>
              <a:rPr lang="en-GB" sz="2000" dirty="0"/>
              <a:t>evaluation comparing hybrid policies against manual heuristics.</a:t>
            </a:r>
          </a:p>
        </p:txBody>
      </p:sp>
    </p:spTree>
    <p:extLst>
      <p:ext uri="{BB962C8B-B14F-4D97-AF65-F5344CB8AC3E}">
        <p14:creationId xmlns:p14="http://schemas.microsoft.com/office/powerpoint/2010/main" val="2715441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  <a:extLst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someone@Example.com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C54328-0E3E-40FC-9B9C-E60E585EE03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D333AA69-F09C-4769-984A-89F3144473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172B9F-030A-4864-9C8F-117B052D02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0</TotalTime>
  <Words>657</Words>
  <Application>Microsoft Office PowerPoint</Application>
  <PresentationFormat>Widescreen</PresentationFormat>
  <Paragraphs>58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Ion</vt:lpstr>
      <vt:lpstr>OPTIMIZED INVENTORY MANAGEMENT USING A HYBRID MACHINE LEARNING MIXED-INTEGER LINEAR PROGRAMMING APPROACH</vt:lpstr>
      <vt:lpstr>INTRODUCTION</vt:lpstr>
      <vt:lpstr>PROBLEM STATEMENT</vt:lpstr>
      <vt:lpstr>OBJECTIVES</vt:lpstr>
      <vt:lpstr>SCOPE</vt:lpstr>
      <vt:lpstr>PROPOSED SOLUTION</vt:lpstr>
      <vt:lpstr>LITERATURE REVIEW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2026-01-23T11:53:20Z</dcterms:created>
  <dcterms:modified xsi:type="dcterms:W3CDTF">2026-01-23T13:25:20Z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